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558"/>
  </p:normalViewPr>
  <p:slideViewPr>
    <p:cSldViewPr snapToGrid="0" snapToObjects="1">
      <p:cViewPr>
        <p:scale>
          <a:sx n="148" d="100"/>
          <a:sy n="148" d="100"/>
        </p:scale>
        <p:origin x="1144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6:18:22.4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6:18:22.6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6:18:22.9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6:18:24.0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6:18:24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6:18:25.1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6:18:25.8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6:18:36.3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6:18:37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6:18:39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6:18:41.3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16:18:42.6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200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customXml" Target="../ink/ink8.xml"/><Relationship Id="rId3" Type="http://schemas.openxmlformats.org/officeDocument/2006/relationships/image" Target="../media/image1.png"/><Relationship Id="rId7" Type="http://schemas.openxmlformats.org/officeDocument/2006/relationships/customXml" Target="../ink/ink2.xml"/><Relationship Id="rId12" Type="http://schemas.openxmlformats.org/officeDocument/2006/relationships/customXml" Target="../ink/ink7.xml"/><Relationship Id="rId17" Type="http://schemas.openxmlformats.org/officeDocument/2006/relationships/customXml" Target="../ink/ink12.xml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customXml" Target="../ink/ink6.xml"/><Relationship Id="rId5" Type="http://schemas.openxmlformats.org/officeDocument/2006/relationships/customXml" Target="../ink/ink1.xml"/><Relationship Id="rId15" Type="http://schemas.openxmlformats.org/officeDocument/2006/relationships/customXml" Target="../ink/ink10.xml"/><Relationship Id="rId10" Type="http://schemas.openxmlformats.org/officeDocument/2006/relationships/customXml" Target="../ink/ink5.xml"/><Relationship Id="rId4" Type="http://schemas.openxmlformats.org/officeDocument/2006/relationships/image" Target="../media/image7.emf"/><Relationship Id="rId9" Type="http://schemas.openxmlformats.org/officeDocument/2006/relationships/customXml" Target="../ink/ink4.xml"/><Relationship Id="rId14" Type="http://schemas.openxmlformats.org/officeDocument/2006/relationships/customXml" Target="../ink/ink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2B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2560320"/>
          </a:xfrm>
          <a:prstGeom prst="rect">
            <a:avLst/>
          </a:prstGeom>
          <a:solidFill>
            <a:srgbClr val="62B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0" y="0"/>
            <a:ext cx="2194560" cy="1097280"/>
          </a:xfrm>
          <a:prstGeom prst="rect">
            <a:avLst/>
          </a:prstGeom>
          <a:solidFill>
            <a:srgbClr val="439A97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62B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Presentation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[Property Address]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57200" y="276148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[City, State ZIP]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57200" y="3383280"/>
            <a:ext cx="2286000" cy="0"/>
          </a:xfrm>
          <a:prstGeom prst="line">
            <a:avLst/>
          </a:prstGeom>
          <a:noFill/>
          <a:ln w="25400">
            <a:solidFill>
              <a:srgbClr val="62B6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3566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[Property Type]   ·   [Transaction Type]   ·   [Loan Type]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4434840"/>
            <a:ext cx="82296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A&amp;S Capital LLC   ·   Loan #[____]   ·   Prepared [Month Year]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0" y="320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400800" y="822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Amount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0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400800" y="1783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to ARV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589520" y="1371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589520" y="1783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</a:t>
            </a:r>
            <a:endParaRPr lang="en-US" sz="900" dirty="0"/>
          </a:p>
        </p:txBody>
      </p:sp>
      <p:pic>
        <p:nvPicPr>
          <p:cNvPr id="20" name="Picture 19" descr="A black and grey text&#10;&#10;AI-generated content may be incorrect.">
            <a:extLst>
              <a:ext uri="{FF2B5EF4-FFF2-40B4-BE49-F238E27FC236}">
                <a16:creationId xmlns:a16="http://schemas.microsoft.com/office/drawing/2014/main" id="{57CADE69-21AD-C146-711E-6EFCED279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1"/>
            <a:ext cx="1464993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2B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PROPERTY &amp; LOAN OVERVIEW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685800"/>
            <a:ext cx="1828800" cy="0"/>
          </a:xfrm>
          <a:prstGeom prst="line">
            <a:avLst/>
          </a:prstGeom>
          <a:noFill/>
          <a:ln w="25400">
            <a:solidFill>
              <a:srgbClr val="62B6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2B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DETAILS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114800" cy="512064"/>
          </a:xfrm>
          <a:prstGeom prst="rect">
            <a:avLst/>
          </a:prstGeom>
          <a:solidFill>
            <a:srgbClr val="F8FA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4475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7552" y="13624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987552" y="15453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[Street Address, City, State ZIP]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1911096"/>
            <a:ext cx="4114800" cy="512064"/>
          </a:xfrm>
          <a:prstGeom prst="rect">
            <a:avLst/>
          </a:prstGeom>
          <a:solidFill>
            <a:srgbClr val="F8FA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02996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87552" y="19476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987552" y="21305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[Property Type]  ·  [Classification]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2496312"/>
            <a:ext cx="4114800" cy="512064"/>
          </a:xfrm>
          <a:prstGeom prst="rect">
            <a:avLst/>
          </a:prstGeom>
          <a:solidFill>
            <a:srgbClr val="F8FA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615184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7552" y="25328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Built / Area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987552" y="27157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[Year]  ·  [SF]  ·  [# Buildings]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57200" y="3081528"/>
            <a:ext cx="4114800" cy="512064"/>
          </a:xfrm>
          <a:prstGeom prst="rect">
            <a:avLst/>
          </a:prstGeom>
          <a:solidFill>
            <a:srgbClr val="F8FA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87552" y="3118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987552" y="33009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[Lot SF] ([AC])  ·  [Subdivision]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57200" y="3666744"/>
            <a:ext cx="4114800" cy="512064"/>
          </a:xfrm>
          <a:prstGeom prst="rect">
            <a:avLst/>
          </a:prstGeom>
          <a:solidFill>
            <a:srgbClr val="F8FA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785616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7552" y="37033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800" dirty="0"/>
          </a:p>
        </p:txBody>
      </p:sp>
      <p:sp>
        <p:nvSpPr>
          <p:cNvPr id="26" name="Text 18"/>
          <p:cNvSpPr/>
          <p:nvPr/>
        </p:nvSpPr>
        <p:spPr>
          <a:xfrm>
            <a:off x="987552" y="38862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[Transaction Type]  ·  [Loan Term] Bridge Loan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493776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2B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METRICS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937760" y="1325880"/>
            <a:ext cx="1828800" cy="914400"/>
          </a:xfrm>
          <a:prstGeom prst="rect">
            <a:avLst/>
          </a:prstGeom>
          <a:solidFill>
            <a:srgbClr val="F8FA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4937760" y="1325880"/>
            <a:ext cx="1828800" cy="45720"/>
          </a:xfrm>
          <a:prstGeom prst="rect">
            <a:avLst/>
          </a:prstGeom>
          <a:solidFill>
            <a:srgbClr val="62B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/>
          <p:nvPr/>
        </p:nvSpPr>
        <p:spPr>
          <a:xfrm>
            <a:off x="5047488" y="146304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$[___]</a:t>
            </a:r>
            <a:endParaRPr lang="en-US" sz="2200" dirty="0"/>
          </a:p>
        </p:txBody>
      </p:sp>
      <p:sp>
        <p:nvSpPr>
          <p:cNvPr id="31" name="Text 23"/>
          <p:cNvSpPr/>
          <p:nvPr/>
        </p:nvSpPr>
        <p:spPr>
          <a:xfrm>
            <a:off x="5047488" y="1828800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Price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5047488" y="1993392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2B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</a:t>
            </a:r>
            <a:endParaRPr lang="en-US" sz="800" dirty="0"/>
          </a:p>
        </p:txBody>
      </p:sp>
      <p:sp>
        <p:nvSpPr>
          <p:cNvPr id="33" name="Shape 25"/>
          <p:cNvSpPr/>
          <p:nvPr/>
        </p:nvSpPr>
        <p:spPr>
          <a:xfrm>
            <a:off x="6903720" y="1325880"/>
            <a:ext cx="1828800" cy="914400"/>
          </a:xfrm>
          <a:prstGeom prst="rect">
            <a:avLst/>
          </a:prstGeom>
          <a:solidFill>
            <a:srgbClr val="F8FA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6903720" y="1325880"/>
            <a:ext cx="1828800" cy="45720"/>
          </a:xfrm>
          <a:prstGeom prst="rect">
            <a:avLst/>
          </a:prstGeom>
          <a:solidFill>
            <a:srgbClr val="62B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7"/>
          <p:cNvSpPr/>
          <p:nvPr/>
        </p:nvSpPr>
        <p:spPr>
          <a:xfrm>
            <a:off x="7013448" y="146304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$[___]</a:t>
            </a:r>
            <a:endParaRPr lang="en-US" sz="2200" dirty="0"/>
          </a:p>
        </p:txBody>
      </p:sp>
      <p:sp>
        <p:nvSpPr>
          <p:cNvPr id="36" name="Text 28"/>
          <p:cNvSpPr/>
          <p:nvPr/>
        </p:nvSpPr>
        <p:spPr>
          <a:xfrm>
            <a:off x="7013448" y="1828800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Value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7013448" y="1993392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2B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00" dirty="0"/>
          </a:p>
        </p:txBody>
      </p:sp>
      <p:sp>
        <p:nvSpPr>
          <p:cNvPr id="38" name="Shape 30"/>
          <p:cNvSpPr/>
          <p:nvPr/>
        </p:nvSpPr>
        <p:spPr>
          <a:xfrm>
            <a:off x="4937760" y="2377440"/>
            <a:ext cx="1828800" cy="914400"/>
          </a:xfrm>
          <a:prstGeom prst="rect">
            <a:avLst/>
          </a:prstGeom>
          <a:solidFill>
            <a:srgbClr val="F8FA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1"/>
          <p:cNvSpPr/>
          <p:nvPr/>
        </p:nvSpPr>
        <p:spPr>
          <a:xfrm>
            <a:off x="4937760" y="2377440"/>
            <a:ext cx="1828800" cy="45720"/>
          </a:xfrm>
          <a:prstGeom prst="rect">
            <a:avLst/>
          </a:prstGeom>
          <a:solidFill>
            <a:srgbClr val="62B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2"/>
          <p:cNvSpPr/>
          <p:nvPr/>
        </p:nvSpPr>
        <p:spPr>
          <a:xfrm>
            <a:off x="5047488" y="251460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$[___]</a:t>
            </a:r>
            <a:endParaRPr lang="en-US" sz="2200" dirty="0"/>
          </a:p>
        </p:txBody>
      </p:sp>
      <p:sp>
        <p:nvSpPr>
          <p:cNvPr id="41" name="Text 33"/>
          <p:cNvSpPr/>
          <p:nvPr/>
        </p:nvSpPr>
        <p:spPr>
          <a:xfrm>
            <a:off x="5047488" y="2880360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Repair Value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047488" y="3044952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2B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Post-Rehab</a:t>
            </a:r>
            <a:endParaRPr lang="en-US" sz="800" dirty="0"/>
          </a:p>
        </p:txBody>
      </p:sp>
      <p:sp>
        <p:nvSpPr>
          <p:cNvPr id="43" name="Shape 35"/>
          <p:cNvSpPr/>
          <p:nvPr/>
        </p:nvSpPr>
        <p:spPr>
          <a:xfrm>
            <a:off x="6903720" y="2377440"/>
            <a:ext cx="1828800" cy="914400"/>
          </a:xfrm>
          <a:prstGeom prst="rect">
            <a:avLst/>
          </a:prstGeom>
          <a:solidFill>
            <a:srgbClr val="F8FA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6903720" y="2377440"/>
            <a:ext cx="1828800" cy="45720"/>
          </a:xfrm>
          <a:prstGeom prst="rect">
            <a:avLst/>
          </a:prstGeom>
          <a:solidFill>
            <a:srgbClr val="62B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7"/>
          <p:cNvSpPr/>
          <p:nvPr/>
        </p:nvSpPr>
        <p:spPr>
          <a:xfrm>
            <a:off x="7013448" y="251460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$[___]</a:t>
            </a:r>
            <a:endParaRPr lang="en-US" sz="2200" dirty="0"/>
          </a:p>
        </p:txBody>
      </p:sp>
      <p:sp>
        <p:nvSpPr>
          <p:cNvPr id="46" name="Text 38"/>
          <p:cNvSpPr/>
          <p:nvPr/>
        </p:nvSpPr>
        <p:spPr>
          <a:xfrm>
            <a:off x="7013448" y="2880360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 Budget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7013448" y="3044952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2B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</a:t>
            </a:r>
            <a:endParaRPr lang="en-US" sz="800" dirty="0"/>
          </a:p>
        </p:txBody>
      </p:sp>
      <p:sp>
        <p:nvSpPr>
          <p:cNvPr id="48" name="Text 40"/>
          <p:cNvSpPr/>
          <p:nvPr/>
        </p:nvSpPr>
        <p:spPr>
          <a:xfrm>
            <a:off x="4937760" y="3520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2B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BREAKDOWN</a:t>
            </a:r>
            <a:endParaRPr lang="en-US" sz="10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3767328"/>
          <a:ext cx="3794760" cy="1161288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B6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B6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B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Loan (Day 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$[___]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[__]%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Reserve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$[___]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Holdback (Rehab)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$[___]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[__]%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Loan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$[___]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[__]%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2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A&amp;S Capital LLC  ·  Confidential</a:t>
            </a:r>
            <a:endParaRPr lang="en-US" sz="800" dirty="0"/>
          </a:p>
        </p:txBody>
      </p:sp>
      <p:pic>
        <p:nvPicPr>
          <p:cNvPr id="52" name="Picture 51" descr="A black and grey text&#10;&#10;AI-generated content may be incorrect.">
            <a:extLst>
              <a:ext uri="{FF2B5EF4-FFF2-40B4-BE49-F238E27FC236}">
                <a16:creationId xmlns:a16="http://schemas.microsoft.com/office/drawing/2014/main" id="{11E032B1-0170-78CE-2D64-ADBF45F3E9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7527" y="85270"/>
            <a:ext cx="1464993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2B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OWNERSHIP &amp; Comps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685800"/>
            <a:ext cx="1828800" cy="0"/>
          </a:xfrm>
          <a:prstGeom prst="line">
            <a:avLst/>
          </a:prstGeom>
          <a:noFill/>
          <a:ln w="25400">
            <a:solidFill>
              <a:srgbClr val="62B6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2B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&amp; TRANSACTION HISTORY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4114800" cy="1234440"/>
          </a:xfrm>
          <a:prstGeom prst="rect">
            <a:avLst/>
          </a:prstGeom>
          <a:solidFill>
            <a:srgbClr val="F8FA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54864" cy="1234440"/>
          </a:xfrm>
          <a:prstGeom prst="rect">
            <a:avLst/>
          </a:prstGeom>
          <a:solidFill>
            <a:srgbClr val="62B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8368" y="1280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Owner: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011680" y="12801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Owner Name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58368" y="15544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Entity: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011680" y="15544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Entity Name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58368" y="1828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Date: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011680" y="18288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[Date]  ·  Price: $[___]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58368" y="2103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Financing: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011680" y="21031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$[___] via [Lender Name]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2484119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2B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TRANSACTIONS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338529"/>
              </p:ext>
            </p:extLst>
          </p:nvPr>
        </p:nvGraphicFramePr>
        <p:xfrm>
          <a:off x="438911" y="2713724"/>
          <a:ext cx="3794760" cy="1583954"/>
        </p:xfrm>
        <a:graphic>
          <a:graphicData uri="http://schemas.openxmlformats.org/drawingml/2006/table">
            <a:tbl>
              <a:tblPr/>
              <a:tblGrid>
                <a:gridCol w="2210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Address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B6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Sold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B6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sold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B6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1. </a:t>
                      </a: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Month/year</a:t>
                      </a: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2. </a:t>
                      </a: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Month/year</a:t>
                      </a: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$</a:t>
                      </a: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921347"/>
                  </a:ext>
                </a:extLst>
              </a:tr>
              <a:tr h="260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Month/year</a:t>
                      </a: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4. </a:t>
                      </a: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Month/year</a:t>
                      </a: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$</a:t>
                      </a: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845269"/>
                  </a:ext>
                </a:extLst>
              </a:tr>
              <a:tr h="260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Calibri" charset="0"/>
                          <a:ea typeface="Calibri" charset="0"/>
                          <a:cs typeface="Calibri" charset="0"/>
                        </a:rPr>
                        <a:t>Month/year</a:t>
                      </a: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4937760" y="914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2B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NEIGHBORHOOD SALES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937760" y="3886200"/>
            <a:ext cx="3794760" cy="411480"/>
          </a:xfrm>
          <a:prstGeom prst="rect">
            <a:avLst/>
          </a:prstGeom>
          <a:solidFill>
            <a:srgbClr val="F0FAFA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937760" y="3886200"/>
            <a:ext cx="54864" cy="411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5120640" y="3886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Example: above of what you need to have. Navigate to Zillow and look at Previous sold Properties near the Subject property and take a Screenshot and paste above.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4937760" y="437083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ICE SiteXPro  ·  Within 0.5 mi radius</a:t>
            </a:r>
            <a:endParaRPr lang="en-US" sz="700" dirty="0"/>
          </a:p>
        </p:txBody>
      </p:sp>
      <p:sp>
        <p:nvSpPr>
          <p:cNvPr id="28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A&amp;S Capital LLC  ·  Confidential</a:t>
            </a:r>
            <a:endParaRPr lang="en-US" sz="800" dirty="0"/>
          </a:p>
        </p:txBody>
      </p:sp>
      <p:pic>
        <p:nvPicPr>
          <p:cNvPr id="30" name="Picture 29" descr="A black and grey text&#10;&#10;AI-generated content may be incorrect.">
            <a:extLst>
              <a:ext uri="{FF2B5EF4-FFF2-40B4-BE49-F238E27FC236}">
                <a16:creationId xmlns:a16="http://schemas.microsoft.com/office/drawing/2014/main" id="{FE5759C1-A029-5416-667C-106DC8B7B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850" y="114307"/>
            <a:ext cx="970549" cy="72694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0705F2C-6099-13BE-1994-A0F6C464D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115568"/>
            <a:ext cx="3543300" cy="2727779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98FA7239-A31A-002D-5553-AA8B570E00F5}"/>
              </a:ext>
            </a:extLst>
          </p:cNvPr>
          <p:cNvGrpSpPr/>
          <p:nvPr/>
        </p:nvGrpSpPr>
        <p:grpSpPr>
          <a:xfrm>
            <a:off x="5831139" y="2147258"/>
            <a:ext cx="11290" cy="16200"/>
            <a:chOff x="5831139" y="2147258"/>
            <a:chExt cx="11290" cy="1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5D58D1B-9466-CE31-1E2F-F5FCE456AA21}"/>
                    </a:ext>
                  </a:extLst>
                </p14:cNvPr>
                <p14:cNvContentPartPr/>
                <p14:nvPr/>
              </p14:nvContentPartPr>
              <p14:xfrm>
                <a:off x="5838829" y="2150858"/>
                <a:ext cx="360" cy="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5D58D1B-9466-CE31-1E2F-F5FCE456AA2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32709" y="214473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7420342-BBE6-1185-65E9-31DBB861EC73}"/>
                    </a:ext>
                  </a:extLst>
                </p14:cNvPr>
                <p14:cNvContentPartPr/>
                <p14:nvPr/>
              </p14:nvContentPartPr>
              <p14:xfrm>
                <a:off x="5838829" y="2150858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7420342-BBE6-1185-65E9-31DBB861EC7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32709" y="214473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F0009E9-F3D8-E845-9AF6-47EC562493F4}"/>
                    </a:ext>
                  </a:extLst>
                </p14:cNvPr>
                <p14:cNvContentPartPr/>
                <p14:nvPr/>
              </p14:nvContentPartPr>
              <p14:xfrm>
                <a:off x="5838829" y="2150858"/>
                <a:ext cx="360" cy="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F0009E9-F3D8-E845-9AF6-47EC562493F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32709" y="214473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902D868-E3AF-AC7C-EF00-AD8F44FA790C}"/>
                    </a:ext>
                  </a:extLst>
                </p14:cNvPr>
                <p14:cNvContentPartPr/>
                <p14:nvPr/>
              </p14:nvContentPartPr>
              <p14:xfrm>
                <a:off x="5833069" y="2157338"/>
                <a:ext cx="360" cy="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902D868-E3AF-AC7C-EF00-AD8F44FA790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26949" y="215121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2430F6F-7D37-203F-FFE9-C7071D2620ED}"/>
                    </a:ext>
                  </a:extLst>
                </p14:cNvPr>
                <p14:cNvContentPartPr/>
                <p14:nvPr/>
              </p14:nvContentPartPr>
              <p14:xfrm>
                <a:off x="5834149" y="2147258"/>
                <a:ext cx="360" cy="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2430F6F-7D37-203F-FFE9-C7071D2620E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28029" y="214113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8CE0955-66E2-21F3-09D5-CD06217440B4}"/>
                    </a:ext>
                  </a:extLst>
                </p14:cNvPr>
                <p14:cNvContentPartPr/>
                <p14:nvPr/>
              </p14:nvContentPartPr>
              <p14:xfrm>
                <a:off x="5842069" y="2151938"/>
                <a:ext cx="360" cy="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8CE0955-66E2-21F3-09D5-CD06217440B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35949" y="214581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B2170A7-4FD5-1E88-6D27-501415AC33AD}"/>
                    </a:ext>
                  </a:extLst>
                </p14:cNvPr>
                <p14:cNvContentPartPr/>
                <p14:nvPr/>
              </p14:nvContentPartPr>
              <p14:xfrm>
                <a:off x="5837749" y="2163098"/>
                <a:ext cx="360" cy="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B2170A7-4FD5-1E88-6D27-501415AC33A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31629" y="215697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9C604FA-3AAF-F5E3-07A7-8E476B9A3E14}"/>
                    </a:ext>
                  </a:extLst>
                </p14:cNvPr>
                <p14:cNvContentPartPr/>
                <p14:nvPr/>
              </p14:nvContentPartPr>
              <p14:xfrm>
                <a:off x="5832939" y="2158623"/>
                <a:ext cx="360" cy="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9C604FA-3AAF-F5E3-07A7-8E476B9A3E1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26819" y="215250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4B62594-70EC-CA3A-5C8B-D5B35758258A}"/>
                    </a:ext>
                  </a:extLst>
                </p14:cNvPr>
                <p14:cNvContentPartPr/>
                <p14:nvPr/>
              </p14:nvContentPartPr>
              <p14:xfrm>
                <a:off x="5832939" y="2152143"/>
                <a:ext cx="360" cy="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4B62594-70EC-CA3A-5C8B-D5B35758258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26819" y="214602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2DED63E-69F5-EAA3-D273-6D707C8099D8}"/>
                    </a:ext>
                  </a:extLst>
                </p14:cNvPr>
                <p14:cNvContentPartPr/>
                <p14:nvPr/>
              </p14:nvContentPartPr>
              <p14:xfrm>
                <a:off x="5834379" y="2161863"/>
                <a:ext cx="360" cy="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2DED63E-69F5-EAA3-D273-6D707C8099D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28259" y="215574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0657AF7-71F8-602B-8537-0E1E98203731}"/>
                    </a:ext>
                  </a:extLst>
                </p14:cNvPr>
                <p14:cNvContentPartPr/>
                <p14:nvPr/>
              </p14:nvContentPartPr>
              <p14:xfrm>
                <a:off x="5840859" y="2150703"/>
                <a:ext cx="360" cy="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0657AF7-71F8-602B-8537-0E1E9820373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34739" y="214458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100A65D-E0C6-232D-A637-CF4B5F11B289}"/>
                    </a:ext>
                  </a:extLst>
                </p14:cNvPr>
                <p14:cNvContentPartPr/>
                <p14:nvPr/>
              </p14:nvContentPartPr>
              <p14:xfrm>
                <a:off x="5831139" y="2157183"/>
                <a:ext cx="360" cy="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100A65D-E0C6-232D-A637-CF4B5F11B28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25019" y="215106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9" name="Action Button: Home 58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EE29DDA9-FE4C-C329-2C90-50139A121D29}"/>
              </a:ext>
            </a:extLst>
          </p:cNvPr>
          <p:cNvSpPr/>
          <p:nvPr/>
        </p:nvSpPr>
        <p:spPr>
          <a:xfrm>
            <a:off x="5769119" y="2068743"/>
            <a:ext cx="156193" cy="15703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2B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HIGHLIGHTS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685800"/>
            <a:ext cx="1828800" cy="0"/>
          </a:xfrm>
          <a:prstGeom prst="line">
            <a:avLst/>
          </a:prstGeom>
          <a:noFill/>
          <a:ln w="25400">
            <a:solidFill>
              <a:srgbClr val="62B6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8229600" cy="3246120"/>
          </a:xfrm>
          <a:prstGeom prst="rect">
            <a:avLst/>
          </a:prstGeom>
          <a:solidFill>
            <a:srgbClr val="F8FAFB"/>
          </a:solidFill>
          <a:ln w="635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62B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1188720"/>
            <a:ext cx="7680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investment highlights here...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62B6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005840" y="4462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A&amp;S Capital LLC</a:t>
            </a:r>
            <a:r>
              <a:rPr lang="en-US" sz="900" dirty="0">
                <a:solidFill>
                  <a:srgbClr val="FFFFFF"/>
                </a:solidFill>
              </a:rPr>
              <a:t>   ·   2999 NE 191 St, #808, Aventura, FL 33180   ·   305.749.0848   ·   ascapital.us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0584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Financing Quote is for discussion purposes only and does not constitute a loan approval or commitment. Terms subject to change after complete application review.</a:t>
            </a:r>
            <a:endParaRPr lang="en-US" sz="700" dirty="0"/>
          </a:p>
        </p:txBody>
      </p:sp>
      <p:pic>
        <p:nvPicPr>
          <p:cNvPr id="15" name="Picture 14" descr="A black and grey text&#10;&#10;AI-generated content may be incorrect.">
            <a:extLst>
              <a:ext uri="{FF2B5EF4-FFF2-40B4-BE49-F238E27FC236}">
                <a16:creationId xmlns:a16="http://schemas.microsoft.com/office/drawing/2014/main" id="{9DBFB5C1-39D5-1C4B-7ED6-D420AA841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850" y="114307"/>
            <a:ext cx="970549" cy="726941"/>
          </a:xfrm>
          <a:prstGeom prst="rect">
            <a:avLst/>
          </a:prstGeom>
        </p:spPr>
      </p:pic>
      <p:pic>
        <p:nvPicPr>
          <p:cNvPr id="16" name="Picture 15" descr="A black and grey text&#10;&#10;AI-generated content may be incorrect.">
            <a:extLst>
              <a:ext uri="{FF2B5EF4-FFF2-40B4-BE49-F238E27FC236}">
                <a16:creationId xmlns:a16="http://schemas.microsoft.com/office/drawing/2014/main" id="{ECBD019F-DA6D-097D-C142-8BEB53118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2" y="4453127"/>
            <a:ext cx="756915" cy="5669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362</Words>
  <Application>Microsoft Macintosh PowerPoint</Application>
  <PresentationFormat>On-screen Show (16:9)</PresentationFormat>
  <Paragraphs>102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A&amp;S Capital – IC Investment Presentation Template</dc:title>
  <dc:subject>PptxGenJS Presentation</dc:subject>
  <dc:creator>A&amp;S Capital LLC</dc:creator>
  <cp:lastModifiedBy>Yashvardhan Santwani</cp:lastModifiedBy>
  <cp:revision>2</cp:revision>
  <dcterms:created xsi:type="dcterms:W3CDTF">2026-02-17T15:41:03Z</dcterms:created>
  <dcterms:modified xsi:type="dcterms:W3CDTF">2026-02-23T16:29:00Z</dcterms:modified>
</cp:coreProperties>
</file>